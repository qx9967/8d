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50" r:id="rId2"/>
  </p:sldMasterIdLst>
  <p:notesMasterIdLst>
    <p:notesMasterId r:id="rId17"/>
  </p:notesMasterIdLst>
  <p:handoutMasterIdLst>
    <p:handoutMasterId r:id="rId18"/>
  </p:handoutMasterIdLst>
  <p:sldIdLst>
    <p:sldId id="353" r:id="rId3"/>
    <p:sldId id="349" r:id="rId4"/>
    <p:sldId id="567" r:id="rId5"/>
    <p:sldId id="530" r:id="rId6"/>
    <p:sldId id="531" r:id="rId7"/>
    <p:sldId id="412" r:id="rId8"/>
    <p:sldId id="613" r:id="rId9"/>
    <p:sldId id="619" r:id="rId10"/>
    <p:sldId id="620" r:id="rId11"/>
    <p:sldId id="577" r:id="rId12"/>
    <p:sldId id="579" r:id="rId13"/>
    <p:sldId id="580" r:id="rId14"/>
    <p:sldId id="582" r:id="rId15"/>
    <p:sldId id="411" r:id="rId16"/>
  </p:sldIdLst>
  <p:sldSz cx="9144000" cy="5143500" type="screen16x9"/>
  <p:notesSz cx="6797675" cy="9926638"/>
  <p:custDataLst>
    <p:tags r:id="rId19"/>
  </p:custDataLst>
  <p:defaultTextStyle>
    <a:defPPr>
      <a:defRPr lang="de-DE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7" userDrawn="1">
          <p15:clr>
            <a:srgbClr val="A4A3A4"/>
          </p15:clr>
        </p15:guide>
        <p15:guide id="2" orient="horz" pos="2482" userDrawn="1">
          <p15:clr>
            <a:srgbClr val="A4A3A4"/>
          </p15:clr>
        </p15:guide>
        <p15:guide id="3" orient="horz" pos="1854" userDrawn="1">
          <p15:clr>
            <a:srgbClr val="A4A3A4"/>
          </p15:clr>
        </p15:guide>
        <p15:guide id="4" orient="horz" pos="123" userDrawn="1">
          <p15:clr>
            <a:srgbClr val="A4A3A4"/>
          </p15:clr>
        </p15:guide>
        <p15:guide id="5" orient="horz" pos="2990" userDrawn="1">
          <p15:clr>
            <a:srgbClr val="A4A3A4"/>
          </p15:clr>
        </p15:guide>
        <p15:guide id="6" orient="horz" pos="1204" userDrawn="1">
          <p15:clr>
            <a:srgbClr val="A4A3A4"/>
          </p15:clr>
        </p15:guide>
        <p15:guide id="7" pos="294" userDrawn="1">
          <p15:clr>
            <a:srgbClr val="A4A3A4"/>
          </p15:clr>
        </p15:guide>
        <p15:guide id="8" pos="2808" userDrawn="1">
          <p15:clr>
            <a:srgbClr val="A4A3A4"/>
          </p15:clr>
        </p15:guide>
        <p15:guide id="9" pos="3628" userDrawn="1">
          <p15:clr>
            <a:srgbClr val="A4A3A4"/>
          </p15:clr>
        </p15:guide>
        <p15:guide id="10" pos="1916" userDrawn="1">
          <p15:clr>
            <a:srgbClr val="A4A3A4"/>
          </p15:clr>
        </p15:guide>
        <p15:guide id="11" pos="5511" userDrawn="1">
          <p15:clr>
            <a:srgbClr val="A4A3A4"/>
          </p15:clr>
        </p15:guide>
        <p15:guide id="12" pos="2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X" initials="Q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2135"/>
    <a:srgbClr val="E93B4D"/>
    <a:srgbClr val="EB4D5D"/>
    <a:srgbClr val="B2B2B2"/>
    <a:srgbClr val="5F5F5F"/>
    <a:srgbClr val="747474"/>
    <a:srgbClr val="A6A6A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3750" autoAdjust="0"/>
    <p:restoredTop sz="92733" autoAdjust="0"/>
  </p:normalViewPr>
  <p:slideViewPr>
    <p:cSldViewPr snapToObjects="1" showGuides="1">
      <p:cViewPr varScale="1">
        <p:scale>
          <a:sx n="144" d="100"/>
          <a:sy n="144" d="100"/>
        </p:scale>
        <p:origin x="114" y="408"/>
      </p:cViewPr>
      <p:guideLst>
        <p:guide orient="horz" pos="587"/>
        <p:guide orient="horz" pos="2482"/>
        <p:guide orient="horz" pos="1854"/>
        <p:guide orient="horz" pos="123"/>
        <p:guide orient="horz" pos="2990"/>
        <p:guide orient="horz" pos="1204"/>
        <p:guide pos="294"/>
        <p:guide pos="2808"/>
        <p:guide pos="3628"/>
        <p:guide pos="1916"/>
        <p:guide pos="5511"/>
        <p:guide pos="2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tags" Target="tags/tag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A3C5B812-213C-41AA-A978-FF3C521FD6B5}" type="datetimeFigureOut">
              <a:rPr lang="zh-CN" altLang="en-US" strike="noStrike" noProof="1">
                <a:latin typeface="+mn-lt"/>
                <a:ea typeface="+mn-ea"/>
                <a:cs typeface="+mn-cs"/>
              </a:rPr>
              <a:t>2026/8/10</a:t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00A1BDC7-4EAF-4161-8C30-EA4F39A743B8}" type="slidenum">
              <a:rPr lang="zh-CN" alt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zh-CN" altLang="en-US" strike="noStrike" noProof="1"/>
          </a:p>
        </p:txBody>
      </p:sp>
    </p:spTree>
    <p:extLst>
      <p:ext uri="{BB962C8B-B14F-4D97-AF65-F5344CB8AC3E}">
        <p14:creationId xmlns:p14="http://schemas.microsoft.com/office/powerpoint/2010/main" val="1229821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3BCC47D5-4CCB-4FD9-BE4D-A20EA9B125BE}" type="datetimeFigureOut">
              <a:rPr lang="en-US" strike="noStrike" noProof="1">
                <a:latin typeface="+mn-lt"/>
                <a:ea typeface="+mn-ea"/>
                <a:cs typeface="+mn-cs"/>
              </a:rPr>
              <a:t>8/10/2026</a:t>
            </a:fld>
            <a:endParaRPr lang="en-US" strike="noStrike" noProof="1"/>
          </a:p>
        </p:txBody>
      </p:sp>
      <p:sp>
        <p:nvSpPr>
          <p:cNvPr id="6148" name="Folienbildplatzhalter 3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149" name="Notizenplatzhalter 4"/>
          <p:cNvSpPr>
            <a:spLocks noGrp="1"/>
          </p:cNvSpPr>
          <p:nvPr>
            <p:ph type="body" sz="quarter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/>
          <a:lstStyle/>
          <a:p>
            <a:pPr lvl="0"/>
            <a:r>
              <a:rPr lang="de-DE" altLang="zh-CN"/>
              <a:t>Textmasterformate durch Klicken bearbeiten</a:t>
            </a:r>
          </a:p>
          <a:p>
            <a:pPr lvl="1" indent="0"/>
            <a:r>
              <a:rPr lang="de-DE" altLang="zh-CN"/>
              <a:t>Zweite Ebene</a:t>
            </a:r>
          </a:p>
          <a:p>
            <a:pPr lvl="2" indent="0"/>
            <a:r>
              <a:rPr lang="de-DE" altLang="zh-CN"/>
              <a:t>Dritte Ebene</a:t>
            </a:r>
          </a:p>
          <a:p>
            <a:pPr lvl="3" indent="0"/>
            <a:r>
              <a:rPr lang="de-DE" altLang="zh-CN"/>
              <a:t>Vierte Ebene</a:t>
            </a:r>
          </a:p>
          <a:p>
            <a:pPr lvl="4" indent="0"/>
            <a:r>
              <a:rPr lang="de-DE" altLang="zh-CN"/>
              <a:t>Fünfte Ebene</a:t>
            </a:r>
            <a:endParaRPr lang="en-US" altLang="zh-CN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65C7D2A2-CEB0-43A4-9C43-4FA1BEB50837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  <p:extLst>
      <p:ext uri="{BB962C8B-B14F-4D97-AF65-F5344CB8AC3E}">
        <p14:creationId xmlns:p14="http://schemas.microsoft.com/office/powerpoint/2010/main" val="26763285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32262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4905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2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9331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266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zh-CN" altLang="en-US" dirty="0" smtClean="0"/>
          </a:p>
        </p:txBody>
      </p:sp>
      <p:sp>
        <p:nvSpPr>
          <p:cNvPr id="11267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fld id="{9A0DB2DC-4C9A-4742-B13C-FB6460FD3503}" type="slidenum">
              <a:rPr lang="en-US" altLang="zh-CN">
                <a:solidFill>
                  <a:prstClr val="black"/>
                </a:solidFill>
              </a:rPr>
              <a:t>3</a:t>
            </a:fld>
            <a:endParaRPr lang="en-US" altLang="zh-C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0543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31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331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4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7223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36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536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5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06699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6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97696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7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871376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8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01506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560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560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9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14871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10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286243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11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89531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7410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17411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12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473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379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3379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13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321358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op Content Are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2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>
              <a:defRPr sz="1000" noProof="1" smtClean="0">
                <a:solidFill>
                  <a:schemeClr val="bg1"/>
                </a:solidFill>
              </a:defRPr>
            </a:lvl1pPr>
          </a:lstStyle>
          <a:p>
            <a:pPr fontAlgn="auto">
              <a:defRPr/>
            </a:pPr>
            <a:fld id="{F8E7C12D-F5B9-4A5B-97B6-F6FDB0651B92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2"/>
          <p:cNvSpPr/>
          <p:nvPr userDrawn="1"/>
        </p:nvSpPr>
        <p:spPr>
          <a:xfrm>
            <a:off x="0" y="1588"/>
            <a:ext cx="9144000" cy="514191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base">
              <a:defRPr/>
            </a:pPr>
            <a:endParaRPr lang="zh-CN" altLang="en-US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/>
          <p:nvPr userDrawn="1"/>
        </p:nvSpPr>
        <p:spPr>
          <a:xfrm flipV="1">
            <a:off x="0" y="0"/>
            <a:ext cx="3779838" cy="1131888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  </a:t>
            </a:r>
          </a:p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</a:t>
            </a:r>
          </a:p>
        </p:txBody>
      </p:sp>
      <p:cxnSp>
        <p:nvCxnSpPr>
          <p:cNvPr id="9" name="Gerade Verbindung 12"/>
          <p:cNvCxnSpPr/>
          <p:nvPr userDrawn="1"/>
        </p:nvCxnSpPr>
        <p:spPr>
          <a:xfrm>
            <a:off x="0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2"/>
          <p:cNvCxnSpPr/>
          <p:nvPr userDrawn="1"/>
        </p:nvCxnSpPr>
        <p:spPr>
          <a:xfrm>
            <a:off x="6732588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 userDrawn="1"/>
        </p:nvSpPr>
        <p:spPr bwMode="auto">
          <a:xfrm>
            <a:off x="2906713" y="2874963"/>
            <a:ext cx="3249613" cy="381000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defRPr/>
            </a:pPr>
            <a:endParaRPr lang="zh-CN" altLang="en-US" strike="noStrike" noProof="1"/>
          </a:p>
        </p:txBody>
      </p:sp>
      <p:sp>
        <p:nvSpPr>
          <p:cNvPr id="1030" name="TextBox 2"/>
          <p:cNvSpPr txBox="1"/>
          <p:nvPr userDrawn="1"/>
        </p:nvSpPr>
        <p:spPr>
          <a:xfrm>
            <a:off x="3332163" y="2911475"/>
            <a:ext cx="2398712" cy="3079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lvl="0" algn="ctr"/>
            <a:r>
              <a:rPr lang="en-US" altLang="zh-CN" sz="14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www.foryouge.com</a:t>
            </a:r>
          </a:p>
        </p:txBody>
      </p:sp>
      <p:pic>
        <p:nvPicPr>
          <p:cNvPr id="1031" name="Picture 2" descr="C:\Users\Administrator\Desktop\ADAYO+通用.pn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276600" y="2032000"/>
            <a:ext cx="2376488" cy="227013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iming>
    <p:tnLst>
      <p:par>
        <p:cTn id="1" dur="indefinite" restart="never" nodeType="tmRoot"/>
      </p:par>
    </p:tnLst>
  </p:timing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/>
          <p:cNvSpPr/>
          <p:nvPr userDrawn="1"/>
        </p:nvSpPr>
        <p:spPr>
          <a:xfrm flipH="1">
            <a:off x="8101013" y="4587875"/>
            <a:ext cx="719137" cy="327025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395288" y="700088"/>
            <a:ext cx="8424863" cy="0"/>
          </a:xfrm>
          <a:prstGeom prst="line">
            <a:avLst/>
          </a:prstGeom>
          <a:ln w="4445">
            <a:solidFill>
              <a:srgbClr val="E6213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3" name="Picture 2" descr="C:\Users\Administrator\Desktop\ADAYO+通用.png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95288" y="431800"/>
            <a:ext cx="1873250" cy="1793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Foliennummernplatzhalter 25"/>
          <p:cNvSpPr>
            <a:spLocks noGrp="1"/>
          </p:cNvSpPr>
          <p:nvPr>
            <p:ph type="sldNum" sz="quarter" idx="4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r" fontAlgn="auto">
              <a:defRPr sz="700" b="1" smtClean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>
    <p:fade/>
  </p:transition>
  <p:timing>
    <p:tnLst>
      <p:par>
        <p:cTn id="1" dur="indefinite" restart="never" nodeType="tmRoot"/>
      </p:par>
    </p:tnLst>
  </p:timing>
  <p:hf sldNum="0" hdr="0" ftr="0" dt="0"/>
  <p:txStyles>
    <p:titleStyle>
      <a:lvl1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 kern="1200">
          <a:solidFill>
            <a:schemeClr val="accent1"/>
          </a:solidFill>
          <a:latin typeface="+mj-lt"/>
          <a:ea typeface="+mj-ea"/>
          <a:cs typeface="Arial" panose="020B0604020202020204" pitchFamily="34" charset="0"/>
        </a:defRPr>
      </a:lvl1pPr>
      <a:lvl2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177800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541655" indent="-18415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89725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254125" indent="-179705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61607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ext Box 4"/>
          <p:cNvSpPr txBox="1"/>
          <p:nvPr/>
        </p:nvSpPr>
        <p:spPr>
          <a:xfrm>
            <a:off x="2485390" y="2387600"/>
            <a:ext cx="4173220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275965" y="3435985"/>
            <a:ext cx="2753360" cy="152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编制：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审核：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批准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日期：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</a:t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194" name="文本框 5"/>
          <p:cNvSpPr txBox="1"/>
          <p:nvPr/>
        </p:nvSpPr>
        <p:spPr>
          <a:xfrm>
            <a:off x="7734300" y="411163"/>
            <a:ext cx="1158875" cy="27622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黑体" panose="02010609060101010101" pitchFamily="49" charset="-122"/>
              </a:rPr>
              <a:t>目录</a:t>
            </a:r>
          </a:p>
        </p:txBody>
      </p:sp>
      <p:grpSp>
        <p:nvGrpSpPr>
          <p:cNvPr id="21" name="组合 20"/>
          <p:cNvGrpSpPr/>
          <p:nvPr/>
        </p:nvGrpSpPr>
        <p:grpSpPr>
          <a:xfrm>
            <a:off x="3244255" y="1099052"/>
            <a:ext cx="2345759" cy="3692519"/>
            <a:chOff x="3255645" y="805821"/>
            <a:chExt cx="2345759" cy="3692519"/>
          </a:xfrm>
        </p:grpSpPr>
        <p:grpSp>
          <p:nvGrpSpPr>
            <p:cNvPr id="10" name="组合 9"/>
            <p:cNvGrpSpPr/>
            <p:nvPr/>
          </p:nvGrpSpPr>
          <p:grpSpPr>
            <a:xfrm>
              <a:off x="3255645" y="1218565"/>
              <a:ext cx="2345759" cy="3279775"/>
              <a:chOff x="3255645" y="1218565"/>
              <a:chExt cx="2345759" cy="3279775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258995" y="1218565"/>
                <a:ext cx="2333699" cy="423456"/>
                <a:chOff x="5177" y="1482"/>
                <a:chExt cx="3483" cy="632"/>
              </a:xfrm>
              <a:solidFill>
                <a:srgbClr val="EB4D5D"/>
              </a:solidFill>
            </p:grpSpPr>
            <p:sp>
              <p:nvSpPr>
                <p:cNvPr id="3" name="圆角矩形 2"/>
                <p:cNvSpPr/>
                <p:nvPr/>
              </p:nvSpPr>
              <p:spPr>
                <a:xfrm>
                  <a:off x="5544" y="1575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7500"/>
                </a:bodyPr>
                <a:lstStyle/>
                <a:p>
                  <a:pPr fontAlgn="base"/>
                  <a:r>
                    <a:rPr lang="zh-CN" altLang="en-US" sz="9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团队成立</a:t>
                  </a:r>
                  <a:endParaRPr lang="zh-CN" altLang="en-US" sz="9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9" name="椭圆 8"/>
                <p:cNvSpPr/>
                <p:nvPr/>
              </p:nvSpPr>
              <p:spPr>
                <a:xfrm>
                  <a:off x="5177" y="1482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" name="椭圆 1"/>
                <p:cNvSpPr/>
                <p:nvPr/>
              </p:nvSpPr>
              <p:spPr>
                <a:xfrm>
                  <a:off x="5231" y="1536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D1</a:t>
                  </a: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>
                <a:off x="3263015" y="1626611"/>
                <a:ext cx="2334369" cy="423456"/>
                <a:chOff x="5183" y="2065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33" name="圆角矩形 32"/>
                <p:cNvSpPr/>
                <p:nvPr/>
              </p:nvSpPr>
              <p:spPr>
                <a:xfrm>
                  <a:off x="5551" y="2158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问题</a:t>
                  </a:r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描述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5" name="椭圆 34"/>
                <p:cNvSpPr/>
                <p:nvPr/>
              </p:nvSpPr>
              <p:spPr>
                <a:xfrm>
                  <a:off x="5183" y="2065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6" name="椭圆 35"/>
                <p:cNvSpPr/>
                <p:nvPr/>
              </p:nvSpPr>
              <p:spPr>
                <a:xfrm>
                  <a:off x="5237" y="2119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rgbClr val="FFFFFF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D2</a:t>
                  </a: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260335" y="2034656"/>
                <a:ext cx="2333699" cy="423456"/>
                <a:chOff x="5177" y="2648"/>
                <a:chExt cx="3483" cy="632"/>
              </a:xfrm>
              <a:solidFill>
                <a:srgbClr val="EB4D5D"/>
              </a:solidFill>
            </p:grpSpPr>
            <p:sp>
              <p:nvSpPr>
                <p:cNvPr id="38" name="圆角矩形 37"/>
                <p:cNvSpPr/>
                <p:nvPr/>
              </p:nvSpPr>
              <p:spPr>
                <a:xfrm>
                  <a:off x="5544" y="274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临时措施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5177" y="2648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1" name="椭圆 40"/>
                <p:cNvSpPr/>
                <p:nvPr/>
              </p:nvSpPr>
              <p:spPr>
                <a:xfrm>
                  <a:off x="5231" y="2702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D3</a:t>
                  </a:r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3265025" y="2442702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43" name="圆角矩形 42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原因分析</a:t>
                  </a:r>
                </a:p>
              </p:txBody>
            </p:sp>
            <p:sp>
              <p:nvSpPr>
                <p:cNvPr id="45" name="椭圆 44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D4</a:t>
                  </a: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261675" y="2850747"/>
                <a:ext cx="2333699" cy="423456"/>
                <a:chOff x="5177" y="3814"/>
                <a:chExt cx="3483" cy="632"/>
              </a:xfrm>
              <a:solidFill>
                <a:srgbClr val="EB4D5D"/>
              </a:solidFill>
            </p:grpSpPr>
            <p:sp>
              <p:nvSpPr>
                <p:cNvPr id="48" name="圆角矩形 47"/>
                <p:cNvSpPr/>
                <p:nvPr/>
              </p:nvSpPr>
              <p:spPr>
                <a:xfrm>
                  <a:off x="5544" y="3907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/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长期对策</a:t>
                  </a: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5177" y="3814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1" name="椭圆 50"/>
                <p:cNvSpPr/>
                <p:nvPr/>
              </p:nvSpPr>
              <p:spPr>
                <a:xfrm>
                  <a:off x="5231" y="3868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D5</a:t>
                  </a: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267035" y="3258793"/>
                <a:ext cx="2334369" cy="423456"/>
                <a:chOff x="5183" y="4397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29" name="圆角矩形 28"/>
                <p:cNvSpPr/>
                <p:nvPr/>
              </p:nvSpPr>
              <p:spPr>
                <a:xfrm>
                  <a:off x="5551" y="449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效果验证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5183" y="4397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2" name="椭圆 31"/>
                <p:cNvSpPr/>
                <p:nvPr/>
              </p:nvSpPr>
              <p:spPr>
                <a:xfrm>
                  <a:off x="5237" y="4451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D6</a:t>
                  </a:r>
                </a:p>
              </p:txBody>
            </p:sp>
          </p:grpSp>
          <p:grpSp>
            <p:nvGrpSpPr>
              <p:cNvPr id="8" name="组合 7"/>
              <p:cNvGrpSpPr/>
              <p:nvPr/>
            </p:nvGrpSpPr>
            <p:grpSpPr>
              <a:xfrm>
                <a:off x="3257655" y="3666838"/>
                <a:ext cx="2333699" cy="423456"/>
                <a:chOff x="5176" y="5031"/>
                <a:chExt cx="3483" cy="632"/>
              </a:xfrm>
              <a:solidFill>
                <a:srgbClr val="EB4D5D"/>
              </a:solidFill>
            </p:grpSpPr>
            <p:sp>
              <p:nvSpPr>
                <p:cNvPr id="5" name="圆角矩形 4"/>
                <p:cNvSpPr/>
                <p:nvPr/>
              </p:nvSpPr>
              <p:spPr>
                <a:xfrm>
                  <a:off x="5543" y="51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预防措施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6" name="椭圆 5"/>
                <p:cNvSpPr/>
                <p:nvPr/>
              </p:nvSpPr>
              <p:spPr>
                <a:xfrm>
                  <a:off x="5176" y="50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" name="椭圆 6"/>
                <p:cNvSpPr/>
                <p:nvPr/>
              </p:nvSpPr>
              <p:spPr>
                <a:xfrm>
                  <a:off x="5230" y="50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D7</a:t>
                  </a: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3255645" y="4074884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17" name="圆角矩形 16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结案总结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18" name="椭圆 17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D8</a:t>
                  </a:r>
                </a:p>
              </p:txBody>
            </p:sp>
          </p:grpSp>
        </p:grpSp>
        <p:grpSp>
          <p:nvGrpSpPr>
            <p:cNvPr id="37" name="组合 36"/>
            <p:cNvGrpSpPr/>
            <p:nvPr/>
          </p:nvGrpSpPr>
          <p:grpSpPr>
            <a:xfrm>
              <a:off x="3255645" y="805821"/>
              <a:ext cx="2333699" cy="423456"/>
              <a:chOff x="5177" y="1482"/>
              <a:chExt cx="3483" cy="632"/>
            </a:xfrm>
            <a:solidFill>
              <a:srgbClr val="EB4D5D"/>
            </a:solidFill>
          </p:grpSpPr>
          <p:sp>
            <p:nvSpPr>
              <p:cNvPr id="39" name="圆角矩形 38"/>
              <p:cNvSpPr/>
              <p:nvPr/>
            </p:nvSpPr>
            <p:spPr>
              <a:xfrm>
                <a:off x="5544" y="1575"/>
                <a:ext cx="3117" cy="445"/>
              </a:xfrm>
              <a:prstGeom prst="roundRect">
                <a:avLst>
                  <a:gd name="adj" fmla="val 50000"/>
                </a:avLst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srgbClr val="83B40D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<a:normAutofit fontScale="97500"/>
              </a:bodyPr>
              <a:lstStyle/>
              <a:p>
                <a:pPr fontAlgn="base"/>
                <a:r>
                  <a:rPr lang="zh-CN" altLang="en-US" sz="900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相关信息</a:t>
                </a:r>
                <a:endParaRPr lang="zh-CN" altLang="en-US" sz="900" strike="noStrike" noProof="1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42" name="椭圆 41"/>
              <p:cNvSpPr/>
              <p:nvPr/>
            </p:nvSpPr>
            <p:spPr>
              <a:xfrm>
                <a:off x="5177" y="1482"/>
                <a:ext cx="632" cy="632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5400000" algn="t" rotWithShape="0">
                  <a:srgbClr val="FFFFFF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normAutofit/>
              </a:bodyPr>
              <a:lstStyle/>
              <a:p>
                <a:pPr algn="ctr" fontAlgn="base"/>
                <a:endParaRPr lang="zh-CN" altLang="en-US" sz="135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5231" y="1536"/>
                <a:ext cx="523" cy="523"/>
              </a:xfrm>
              <a:prstGeom prst="ellipse">
                <a:avLst/>
              </a:prstGeom>
              <a:grpFill/>
              <a:ln w="12700" cap="flat" cmpd="sng" algn="ctr">
                <a:solidFill>
                  <a:srgbClr val="FFFFFF"/>
                </a:solidFill>
                <a:prstDash val="dash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normAutofit fontScale="67500" lnSpcReduction="20000"/>
              </a:bodyPr>
              <a:lstStyle/>
              <a:p>
                <a:pPr algn="ctr" fontAlgn="base"/>
                <a:r>
                  <a:rPr lang="en-US" altLang="zh-CN" sz="21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rPr>
                  <a:t>D0</a:t>
                </a:r>
                <a:endParaRPr lang="en-US" altLang="zh-CN" sz="210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endParaRPr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2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95605" y="1111885"/>
            <a:ext cx="8245475" cy="23475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故障日期 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机型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总成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追溯条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故障发生工位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 smtClean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具体故障描述</a:t>
            </a:r>
            <a:r>
              <a:rPr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275" cy="250190"/>
            <a:chOff x="736" y="1274"/>
            <a:chExt cx="4465" cy="394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9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D0  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问题了解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algn="r"/>
            <a:fld id="{9A0DB2DC-4C9A-4742-B13C-FB6460FD3503}" type="slidenum">
              <a:rPr lang="en-US" altLang="zh-CN" sz="1000">
                <a:solidFill>
                  <a:srgbClr val="FFFFFF"/>
                </a:solidFill>
                <a:latin typeface="Arial" panose="020B0604020202020204" pitchFamily="34" charset="0"/>
              </a:rPr>
              <a:t>3</a:t>
            </a:fld>
            <a:endParaRPr lang="en-US" altLang="zh-CN" sz="10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8250" y="1336480"/>
          <a:ext cx="8382222" cy="35534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4222"/>
                <a:gridCol w="1047015"/>
                <a:gridCol w="1715213"/>
                <a:gridCol w="1290914"/>
                <a:gridCol w="2117631"/>
                <a:gridCol w="1527227"/>
              </a:tblGrid>
              <a:tr h="705376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(Serial)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团队成员</a:t>
                      </a: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(team member)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角色</a:t>
                      </a: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(Character)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Duties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联系电话&amp;邮箱</a:t>
                      </a: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TEL</a:t>
                      </a:r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主要负责模块</a:t>
                      </a: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Mainly responsible for content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474263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</a:t>
                      </a:r>
                      <a:r>
                        <a:rPr lang="zh-CN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长</a:t>
                      </a:r>
                      <a:endParaRPr sz="1200" u="none" strike="noStrike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)</a:t>
                      </a:r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</a:tbl>
          </a:graphicData>
        </a:graphic>
      </p:graphicFrame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D1  </a:t>
              </a:r>
              <a:r>
                <a:rPr lang="zh-CN" altLang="en-US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团队成立</a:t>
              </a: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(</a:t>
              </a:r>
              <a:r>
                <a:rPr lang="en-US" altLang="zh-CN" sz="1400" b="1" smtClean="0">
                  <a:latin typeface="+mn-lt"/>
                  <a:ea typeface="微软雅黑" panose="020B0503020204020204" pitchFamily="34" charset="-122"/>
                  <a:sym typeface="+mn-ea"/>
                </a:rPr>
                <a:t>Set up a team</a:t>
              </a:r>
              <a:r>
                <a:rPr lang="en-US" altLang="zh-CN" sz="1400" b="1" smtClean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)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4</a:t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584201" y="1260250"/>
          <a:ext cx="8035450" cy="3568165"/>
        </p:xfrm>
        <a:graphic>
          <a:graphicData uri="http://schemas.openxmlformats.org/drawingml/2006/table">
            <a:tbl>
              <a:tblPr/>
              <a:tblGrid>
                <a:gridCol w="1683544"/>
                <a:gridCol w="1319531"/>
                <a:gridCol w="985520"/>
                <a:gridCol w="1346835"/>
                <a:gridCol w="1019175"/>
                <a:gridCol w="1680845"/>
              </a:tblGrid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客户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</a:t>
                      </a:r>
                      <a:r>
                        <a:rPr lang="en-US" altLang="zh-CN" sz="1000" kern="1200" noProof="1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client</a:t>
                      </a:r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(time)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供应商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(supplier)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惠州华阳通用电子有限公司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机型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(type)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车型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(model)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材料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(Material name)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(Quantity)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不良类型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type)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(LOT No.)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发现地点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生产日期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底盘号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51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投诉来源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(Complaint Source)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defRPr/>
                      </a:pPr>
                      <a:endParaRPr lang="zh-CN" altLang="en-US" sz="1200" dirty="0" smtClean="0">
                        <a:solidFill>
                          <a:srgbClr val="29292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描述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(Symptom description)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  <a:tr h="4089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确认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(Confirm the malfunction)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  <a:tr h="70808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图片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picture)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algn="l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D2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故障描述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5</a:t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Group 194"/>
          <p:cNvGraphicFramePr/>
          <p:nvPr>
            <p:custDataLst>
              <p:tags r:id="rId1"/>
            </p:custDataLst>
          </p:nvPr>
        </p:nvGraphicFramePr>
        <p:xfrm>
          <a:off x="582930" y="1339981"/>
          <a:ext cx="7967980" cy="25736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55295"/>
                <a:gridCol w="1147445"/>
                <a:gridCol w="3491230"/>
                <a:gridCol w="1057275"/>
                <a:gridCol w="990600"/>
                <a:gridCol w="826135"/>
              </a:tblGrid>
              <a:tr h="42862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行动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部门/负责人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99088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客户方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在途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中转仓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200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公司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物料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4798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在制品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其它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</a:tbl>
          </a:graphicData>
        </a:graphic>
      </p:graphicFrame>
      <p:grpSp>
        <p:nvGrpSpPr>
          <p:cNvPr id="8" name="组合 7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9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D3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临时措施</a:t>
              </a:r>
            </a:p>
          </p:txBody>
        </p:sp>
        <p:sp>
          <p:nvSpPr>
            <p:cNvPr id="10" name="矩形 9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6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Why4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Why5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7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发生原因分析：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8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流出原因分析：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9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506413" y="1175192"/>
          <a:ext cx="8098035" cy="61818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44855"/>
                <a:gridCol w="3883660"/>
                <a:gridCol w="1376680"/>
                <a:gridCol w="1423035"/>
                <a:gridCol w="669805"/>
              </a:tblGrid>
              <a:tr h="2581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微软雅黑" panose="020B0503020204020204" pitchFamily="34" charset="-122"/>
                        </a:rPr>
                        <a:t>长期对策</a:t>
                      </a:r>
                      <a:endParaRPr lang="zh-CN" altLang="en-US" sz="11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负责人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 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43870">
                <a:tc>
                  <a:txBody>
                    <a:bodyPr/>
                    <a:lstStyle/>
                    <a:p>
                      <a:pPr algn="ctr"/>
                      <a:endParaRPr lang="en-US" altLang="zh-CN" sz="1200" b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FF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2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D5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长期对策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10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467544" y="1232493"/>
          <a:ext cx="8281169" cy="1051225"/>
        </p:xfrm>
        <a:graphic>
          <a:graphicData uri="http://schemas.openxmlformats.org/drawingml/2006/table">
            <a:tbl>
              <a:tblPr/>
              <a:tblGrid>
                <a:gridCol w="732611"/>
                <a:gridCol w="2891259"/>
                <a:gridCol w="2497392"/>
                <a:gridCol w="1116026"/>
                <a:gridCol w="1043881"/>
              </a:tblGrid>
              <a:tr h="38840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验证方式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负责人 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62816">
                <a:tc>
                  <a:txBody>
                    <a:bodyPr/>
                    <a:lstStyle/>
                    <a:p>
                      <a:pPr algn="ctr" rtl="0" fontAlgn="ctr"/>
                      <a:endParaRPr lang="en-US" altLang="zh-CN" sz="1200" b="0" i="0" u="none" strike="noStrike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D6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效果验证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11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表格"/>
          <p:cNvGraphicFramePr>
            <a:graphicFrameLocks noGrp="1"/>
          </p:cNvGraphicFramePr>
          <p:nvPr/>
        </p:nvGraphicFramePr>
        <p:xfrm>
          <a:off x="439738" y="1275606"/>
          <a:ext cx="8023819" cy="3617211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655521"/>
                <a:gridCol w="695960"/>
                <a:gridCol w="2899549"/>
                <a:gridCol w="983157"/>
                <a:gridCol w="957732"/>
                <a:gridCol w="831900"/>
              </a:tblGrid>
              <a:tr h="339589"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行动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是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否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评论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意见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部门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负责人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日期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状态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程序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Procedure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工作指示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Work instruction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zh-CN" sz="10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487653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操作指示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SOP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流程图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Flow chart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auto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失效模式分析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D/P-FMEA</a:t>
                      </a:r>
                      <a:r>
                        <a:rPr lang="en-US" altLang="zh-CN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 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23116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控制计划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Control Plan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设计规范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Design disciplines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经验教训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Lessons Learned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76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其它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Other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D7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预防措施</a:t>
              </a: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12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文本框 1"/>
          <p:cNvSpPr txBox="1"/>
          <p:nvPr/>
        </p:nvSpPr>
        <p:spPr>
          <a:xfrm>
            <a:off x="334441" y="1275606"/>
            <a:ext cx="8247063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背景：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现状：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系统策略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b="1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策略逻辑</a:t>
            </a:r>
            <a:r>
              <a:rPr lang="zh-CN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D8  </a:t>
              </a:r>
              <a:r>
                <a:rPr lang="zh-CN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结案总结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-3175" y="2378075"/>
            <a:ext cx="9151938" cy="504825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base">
              <a:buFont typeface="Arial" panose="020B0604020202020204" pitchFamily="34" charset="0"/>
              <a:buNone/>
              <a:defRPr/>
            </a:pPr>
            <a:endParaRPr lang="zh-CN" altLang="en-US" sz="1200" strike="noStrike" noProof="1"/>
          </a:p>
        </p:txBody>
      </p:sp>
      <p:pic>
        <p:nvPicPr>
          <p:cNvPr id="32770" name="Picture 13" descr="C:\Users\Administrator\Desktop\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13" y="288925"/>
            <a:ext cx="1735137" cy="1666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1" name="文本框 2"/>
          <p:cNvSpPr txBox="1"/>
          <p:nvPr/>
        </p:nvSpPr>
        <p:spPr>
          <a:xfrm>
            <a:off x="2665413" y="2522538"/>
            <a:ext cx="3813175" cy="3587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800"/>
              </a:lnSpc>
              <a:spcBef>
                <a:spcPct val="20000"/>
              </a:spcBef>
            </a:pPr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宋体" panose="02010600030101010101" pitchFamily="2" charset="-122"/>
              </a:rPr>
              <a:t>谢 谢</a:t>
            </a:r>
          </a:p>
        </p:txBody>
      </p:sp>
      <p:pic>
        <p:nvPicPr>
          <p:cNvPr id="3277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838" y="3487738"/>
            <a:ext cx="820737" cy="811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3" name="Rectangle 6"/>
          <p:cNvSpPr/>
          <p:nvPr/>
        </p:nvSpPr>
        <p:spPr>
          <a:xfrm>
            <a:off x="3808413" y="4298950"/>
            <a:ext cx="1527175" cy="1397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>
            <a:spAutoFit/>
          </a:bodyPr>
          <a:lstStyle/>
          <a:p>
            <a:pPr algn="ctr"/>
            <a:r>
              <a:rPr lang="zh-CN" altLang="zh-CN" sz="900">
                <a:latin typeface="微软雅黑" panose="020B0503020204020204" pitchFamily="34" charset="-122"/>
                <a:ea typeface="微软雅黑" panose="020B0503020204020204" pitchFamily="34" charset="-122"/>
              </a:rPr>
              <a:t>华阳汽车电子公众号</a:t>
            </a:r>
          </a:p>
        </p:txBody>
      </p:sp>
      <p:pic>
        <p:nvPicPr>
          <p:cNvPr id="32774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9138" y="1282700"/>
            <a:ext cx="2624137" cy="7064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OC_GUID" val="{40083ee8-aa06-44b7-a7e8-ab89c988e4c1}"/>
  <p:tag name="COMMONDATA" val="eyJoZGlkIjoiNDczMzRkMDEwOTFhZTk1ZGUyODdlZTI0NjFjODRiZjY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OPIC_ID" val="2869567"/>
  <p:tag name="KSO_WM_TEMPLATE_OUTLINE_ID" val="15"/>
  <p:tag name="KSO_WM_TEMPLATE_SCENE_ID" val="1"/>
  <p:tag name="KSO_WM_TEMPLATE_JOB_ID" val="2"/>
  <p:tag name="KSO_WM_TEMPLATE_TOPIC_DEFAULT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5ddcbd42-a4de-45d8-be08-7442f165ebc1}"/>
  <p:tag name="TABLE_ENDDRAG_ORIGIN_RECT" val="618*301"/>
  <p:tag name="TABLE_ENDDRAG_RECT" val="42*95*618*30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51297203-e14e-4962-97a8-b09a129983b4}"/>
  <p:tag name="TABLE_ENDDRAG_ORIGIN_RECT" val="627*232"/>
  <p:tag name="TABLE_ENDDRAG_RECT" val="33*131*627*23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28*266"/>
  <p:tag name="TABLE_ENDDRAG_RECT" val="53*109*628*26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28*266"/>
  <p:tag name="TABLE_ENDDRAG_RECT" val="53*109*628*266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inental AG, 4x3">
  <a:themeElements>
    <a:clrScheme name="Continental 2013-06-21">
      <a:dk1>
        <a:srgbClr val="000000"/>
      </a:dk1>
      <a:lt1>
        <a:srgbClr val="FFFFFF"/>
      </a:lt1>
      <a:dk2>
        <a:srgbClr val="FFFFFF"/>
      </a:dk2>
      <a:lt2>
        <a:srgbClr val="EBEBEB"/>
      </a:lt2>
      <a:accent1>
        <a:srgbClr val="FFA500"/>
      </a:accent1>
      <a:accent2>
        <a:srgbClr val="BF7300"/>
      </a:accent2>
      <a:accent3>
        <a:srgbClr val="E28700"/>
      </a:accent3>
      <a:accent4>
        <a:srgbClr val="FFC266"/>
      </a:accent4>
      <a:accent5>
        <a:srgbClr val="5F5F5F"/>
      </a:accent5>
      <a:accent6>
        <a:srgbClr val="262626"/>
      </a:accent6>
      <a:hlink>
        <a:srgbClr val="FFA500"/>
      </a:hlink>
      <a:folHlink>
        <a:srgbClr val="777777"/>
      </a:folHlink>
    </a:clrScheme>
    <a:fontScheme name="Continental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>
          <a:solidFill>
            <a:schemeClr val="tx1"/>
          </a:solidFill>
        </a:ln>
      </a:spPr>
      <a:bodyPr rtlCol="0" anchor="ctr"/>
      <a:lstStyle>
        <a:defPPr algn="ctr">
          <a:defRPr sz="1600" dirty="0" err="1" smtClean="0">
            <a:solidFill>
              <a:schemeClr val="bg2">
                <a:lumMod val="10000"/>
              </a:schemeClr>
            </a:solidFill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469</Words>
  <Application>Microsoft Office PowerPoint</Application>
  <PresentationFormat>全屏显示(16:9)</PresentationFormat>
  <Paragraphs>195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Droid Sans</vt:lpstr>
      <vt:lpstr>黑体</vt:lpstr>
      <vt:lpstr>宋体</vt:lpstr>
      <vt:lpstr>微软雅黑</vt:lpstr>
      <vt:lpstr>Arial</vt:lpstr>
      <vt:lpstr>Calibri</vt:lpstr>
      <vt:lpstr>Wingdings</vt:lpstr>
      <vt:lpstr>自定义设计方案</vt:lpstr>
      <vt:lpstr>Continental AG, 4x3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Continental AG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Christian Brandt</dc:creator>
  <cp:lastModifiedBy>林鑫旺</cp:lastModifiedBy>
  <cp:revision>2538</cp:revision>
  <dcterms:created xsi:type="dcterms:W3CDTF">2014-03-17T12:10:00Z</dcterms:created>
  <dcterms:modified xsi:type="dcterms:W3CDTF">2026-08-10T01:55:20Z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10118126</vt:lpwstr>
  </property>
  <property fmtid="{D5CDD505-2E9C-101B-9397-08002B2CF9AE}" pid="3" name="NXPowerLiteSettings">
    <vt:lpwstr>F980073804F000</vt:lpwstr>
  </property>
  <property fmtid="{D5CDD505-2E9C-101B-9397-08002B2CF9AE}" pid="4" name="NXPowerLiteVersion">
    <vt:lpwstr>D6.0.7</vt:lpwstr>
  </property>
  <property fmtid="{D5CDD505-2E9C-101B-9397-08002B2CF9AE}" pid="5" name="KSOProductBuildVer">
    <vt:lpwstr>2052-12.8.2.18205</vt:lpwstr>
  </property>
  <property fmtid="{D5CDD505-2E9C-101B-9397-08002B2CF9AE}" pid="6" name="KSORubyTemplateID">
    <vt:lpwstr>2</vt:lpwstr>
  </property>
  <property fmtid="{D5CDD505-2E9C-101B-9397-08002B2CF9AE}" pid="7" name="ICV">
    <vt:lpwstr>CCC246C256314628A6C130D194D4B9F2_13</vt:lpwstr>
  </property>
</Properties>
</file>