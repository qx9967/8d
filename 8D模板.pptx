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9"/>
  </p:handoutMasterIdLst>
  <p:sldIdLst>
    <p:sldId id="353" r:id="rId4"/>
    <p:sldId id="349" r:id="rId6"/>
    <p:sldId id="567" r:id="rId7"/>
    <p:sldId id="530" r:id="rId8"/>
    <p:sldId id="531" r:id="rId9"/>
    <p:sldId id="412" r:id="rId10"/>
    <p:sldId id="613" r:id="rId11"/>
    <p:sldId id="619" r:id="rId12"/>
    <p:sldId id="620" r:id="rId13"/>
    <p:sldId id="577" r:id="rId14"/>
    <p:sldId id="579" r:id="rId15"/>
    <p:sldId id="580" r:id="rId16"/>
    <p:sldId id="582" r:id="rId17"/>
    <p:sldId id="411" r:id="rId18"/>
  </p:sldIdLst>
  <p:sldSz cx="9144000" cy="5143500" type="screen16x9"/>
  <p:notesSz cx="6797675" cy="9926320"/>
  <p:custDataLst>
    <p:tags r:id="rId23"/>
  </p:custDataLst>
  <p:defaultTextStyle>
    <a:defPPr>
      <a:defRPr lang="de-DE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7" userDrawn="1">
          <p15:clr>
            <a:srgbClr val="A4A3A4"/>
          </p15:clr>
        </p15:guide>
        <p15:guide id="2" orient="horz" pos="2482" userDrawn="1">
          <p15:clr>
            <a:srgbClr val="A4A3A4"/>
          </p15:clr>
        </p15:guide>
        <p15:guide id="3" orient="horz" pos="1854" userDrawn="1">
          <p15:clr>
            <a:srgbClr val="A4A3A4"/>
          </p15:clr>
        </p15:guide>
        <p15:guide id="4" orient="horz" pos="123" userDrawn="1">
          <p15:clr>
            <a:srgbClr val="A4A3A4"/>
          </p15:clr>
        </p15:guide>
        <p15:guide id="5" orient="horz" pos="2955" userDrawn="1">
          <p15:clr>
            <a:srgbClr val="A4A3A4"/>
          </p15:clr>
        </p15:guide>
        <p15:guide id="6" orient="horz" pos="1204" userDrawn="1">
          <p15:clr>
            <a:srgbClr val="A4A3A4"/>
          </p15:clr>
        </p15:guide>
        <p15:guide id="7" pos="294" userDrawn="1">
          <p15:clr>
            <a:srgbClr val="A4A3A4"/>
          </p15:clr>
        </p15:guide>
        <p15:guide id="8" pos="2804" userDrawn="1">
          <p15:clr>
            <a:srgbClr val="A4A3A4"/>
          </p15:clr>
        </p15:guide>
        <p15:guide id="9" pos="3628" userDrawn="1">
          <p15:clr>
            <a:srgbClr val="A4A3A4"/>
          </p15:clr>
        </p15:guide>
        <p15:guide id="10" pos="1916" userDrawn="1">
          <p15:clr>
            <a:srgbClr val="A4A3A4"/>
          </p15:clr>
        </p15:guide>
        <p15:guide id="11" pos="5511" userDrawn="1">
          <p15:clr>
            <a:srgbClr val="A4A3A4"/>
          </p15:clr>
        </p15:guide>
        <p15:guide id="12" pos="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2135"/>
    <a:srgbClr val="E93B4D"/>
    <a:srgbClr val="EB4D5D"/>
    <a:srgbClr val="B2B2B2"/>
    <a:srgbClr val="5F5F5F"/>
    <a:srgbClr val="747474"/>
    <a:srgbClr val="A6A6A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2733" autoAdjust="0"/>
  </p:normalViewPr>
  <p:slideViewPr>
    <p:cSldViewPr snapToObjects="1" showGuides="1">
      <p:cViewPr varScale="1">
        <p:scale>
          <a:sx n="160" d="100"/>
          <a:sy n="160" d="100"/>
        </p:scale>
        <p:origin x="312" y="138"/>
      </p:cViewPr>
      <p:guideLst>
        <p:guide orient="horz" pos="587"/>
        <p:guide orient="horz" pos="2482"/>
        <p:guide orient="horz" pos="1854"/>
        <p:guide orient="horz" pos="123"/>
        <p:guide orient="horz" pos="2955"/>
        <p:guide orient="horz" pos="1204"/>
        <p:guide pos="294"/>
        <p:guide pos="2804"/>
        <p:guide pos="3628"/>
        <p:guide pos="1916"/>
        <p:guide pos="5511"/>
        <p:guide pos="2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7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>
                <a:ea typeface="+mn-ea"/>
              </a:defRPr>
            </a:lvl1pPr>
          </a:lstStyle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A3C5B812-213C-41AA-A978-FF3C521FD6B5}" type="datetimeFigureOut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>
                <a:ea typeface="+mn-ea"/>
              </a:defRPr>
            </a:lvl1pPr>
          </a:lstStyle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00A1BDC7-4EAF-4161-8C30-EA4F39A743B8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>
                <a:ea typeface="+mn-ea"/>
              </a:defRPr>
            </a:lvl1pPr>
          </a:lstStyle>
          <a:p>
            <a:pPr fontAlgn="auto">
              <a:defRPr/>
            </a:pPr>
            <a:endParaRPr lang="en-US" strike="noStrike" noProof="1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3BCC47D5-4CCB-4FD9-BE4D-A20EA9B125BE}" type="datetimeFigureOut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6148" name="Folienbildplatzhalter 3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Notizenplatzhalter 4"/>
          <p:cNvSpPr>
            <a:spLocks noGrp="1"/>
          </p:cNvSpPr>
          <p:nvPr>
            <p:ph type="body" sz="quarter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de-DE" altLang="zh-CN"/>
              <a:t>Textmasterformate durch Klicken bearbeiten</a:t>
            </a:r>
            <a:endParaRPr lang="de-DE" altLang="zh-CN"/>
          </a:p>
          <a:p>
            <a:pPr lvl="1" indent="0"/>
            <a:r>
              <a:rPr lang="de-DE" altLang="zh-CN"/>
              <a:t>Zweite Ebene</a:t>
            </a:r>
            <a:endParaRPr lang="de-DE" altLang="zh-CN"/>
          </a:p>
          <a:p>
            <a:pPr lvl="2" indent="0"/>
            <a:r>
              <a:rPr lang="de-DE" altLang="zh-CN"/>
              <a:t>Dritte Ebene</a:t>
            </a:r>
            <a:endParaRPr lang="de-DE" altLang="zh-CN"/>
          </a:p>
          <a:p>
            <a:pPr lvl="3" indent="0"/>
            <a:r>
              <a:rPr lang="de-DE" altLang="zh-CN"/>
              <a:t>Vierte Ebene</a:t>
            </a:r>
            <a:endParaRPr lang="de-DE" altLang="zh-CN"/>
          </a:p>
          <a:p>
            <a:pPr lvl="4" indent="0"/>
            <a:r>
              <a:rPr lang="de-DE" altLang="zh-CN"/>
              <a:t>Fünfte Ebene</a:t>
            </a:r>
            <a:endParaRPr lang="en-US" altLang="zh-CN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>
                <a:ea typeface="+mn-ea"/>
              </a:defRPr>
            </a:lvl1pPr>
          </a:lstStyle>
          <a:p>
            <a:pPr fontAlgn="auto">
              <a:defRPr/>
            </a:pPr>
            <a:endParaRPr lang="en-US" strike="noStrike" noProof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65C7D2A2-CEB0-43A4-9C43-4FA1BEB50837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fld id="{9A0DB2DC-4C9A-4742-B13C-FB6460FD3503}" type="slidenum">
              <a:rPr lang="en-US" altLang="zh-CN">
                <a:solidFill>
                  <a:prstClr val="black"/>
                </a:solidFill>
              </a:rPr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94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、产生原因分析；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、流出原因分析；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、使用</a:t>
            </a:r>
            <a:r>
              <a:rPr lang="en-US" altLang="zh-CN" dirty="0" smtClean="0"/>
              <a:t>5WHY</a:t>
            </a:r>
            <a:r>
              <a:rPr lang="zh-CN" altLang="en-US" dirty="0" smtClean="0"/>
              <a:t>或鱼骨图等质量工具</a:t>
            </a:r>
            <a:endParaRPr lang="en-US" altLang="zh-CN" dirty="0" smtClean="0"/>
          </a:p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94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、产生原因分析；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、流出原因分析；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、使用</a:t>
            </a:r>
            <a:r>
              <a:rPr lang="en-US" altLang="zh-CN" dirty="0" smtClean="0"/>
              <a:t>5WHY</a:t>
            </a:r>
            <a:r>
              <a:rPr lang="zh-CN" altLang="en-US" dirty="0" smtClean="0"/>
              <a:t>或鱼骨图等质量工具</a:t>
            </a:r>
            <a:endParaRPr lang="en-US" altLang="zh-CN" dirty="0" smtClean="0"/>
          </a:p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94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、产生原因分析；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、流出原因分析；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、使用</a:t>
            </a:r>
            <a:r>
              <a:rPr lang="en-US" altLang="zh-CN" dirty="0" smtClean="0"/>
              <a:t>5WHY</a:t>
            </a:r>
            <a:r>
              <a:rPr lang="zh-CN" altLang="en-US" dirty="0" smtClean="0"/>
              <a:t>或鱼骨图等质量工具</a:t>
            </a:r>
            <a:endParaRPr lang="en-US" altLang="zh-CN" dirty="0" smtClean="0"/>
          </a:p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96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96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op Content Ar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2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3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>
              <a:defRPr sz="1000" noProof="1" smtClean="0">
                <a:solidFill>
                  <a:schemeClr val="bg1"/>
                </a:solidFill>
              </a:defRPr>
            </a:lvl1pPr>
          </a:lstStyle>
          <a:p>
            <a:pPr fontAlgn="auto">
              <a:defRPr/>
            </a:pPr>
            <a:fld id="{F8E7C12D-F5B9-4A5B-97B6-F6FDB0651B92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 userDrawn="1"/>
        </p:nvSpPr>
        <p:spPr>
          <a:xfrm>
            <a:off x="0" y="1588"/>
            <a:ext cx="9144000" cy="51419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z="1600" strike="noStrike" noProof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383588" y="4732338"/>
            <a:ext cx="360363" cy="112713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/>
          <a:p>
            <a:pPr fontAlgn="auto">
              <a:defRPr/>
            </a:pPr>
            <a:fld id="{470673CB-428E-49A9-AE27-9A4D86A3DB1D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auto">
              <a:defRPr/>
            </a:pPr>
            <a:fld id="{470673CB-428E-49A9-AE27-9A4D86A3DB1D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2.png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/>
          <p:nvPr userDrawn="1"/>
        </p:nvSpPr>
        <p:spPr>
          <a:xfrm flipV="1">
            <a:off x="0" y="0"/>
            <a:ext cx="3779838" cy="1131888"/>
          </a:xfrm>
          <a:prstGeom prst="rtTriangle">
            <a:avLst/>
          </a:prstGeom>
          <a:solidFill>
            <a:srgbClr val="E62135"/>
          </a:solidFill>
          <a:ln w="9525">
            <a:noFill/>
          </a:ln>
        </p:spPr>
        <p:txBody>
          <a:bodyPr anchor="ctr"/>
          <a:lstStyle/>
          <a:p>
            <a:pPr lvl="0"/>
            <a:r>
              <a:rPr lang="zh-CN" altLang="en-US">
                <a:solidFill>
                  <a:schemeClr val="bg1"/>
                </a:solidFill>
                <a:latin typeface="Calibri" panose="020F0502020204030204" pitchFamily="34" charset="0"/>
              </a:rPr>
              <a:t>                                </a:t>
            </a:r>
            <a:endParaRPr lang="zh-CN" altLang="en-US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lvl="0"/>
            <a:r>
              <a:rPr lang="zh-CN" altLang="en-US">
                <a:solidFill>
                  <a:schemeClr val="bg1"/>
                </a:solidFill>
                <a:latin typeface="Calibri" panose="020F0502020204030204" pitchFamily="34" charset="0"/>
              </a:rPr>
              <a:t>                              </a:t>
            </a:r>
            <a:endParaRPr lang="zh-CN" altLang="en-US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Gerade Verbindung 12"/>
          <p:cNvCxnSpPr/>
          <p:nvPr userDrawn="1"/>
        </p:nvCxnSpPr>
        <p:spPr>
          <a:xfrm>
            <a:off x="0" y="2643188"/>
            <a:ext cx="2411413" cy="0"/>
          </a:xfrm>
          <a:prstGeom prst="line">
            <a:avLst/>
          </a:prstGeom>
          <a:ln w="444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2"/>
          <p:cNvCxnSpPr/>
          <p:nvPr userDrawn="1"/>
        </p:nvCxnSpPr>
        <p:spPr>
          <a:xfrm>
            <a:off x="6732588" y="2643188"/>
            <a:ext cx="2411413" cy="0"/>
          </a:xfrm>
          <a:prstGeom prst="line">
            <a:avLst/>
          </a:prstGeom>
          <a:ln w="444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 userDrawn="1"/>
        </p:nvSpPr>
        <p:spPr bwMode="auto">
          <a:xfrm>
            <a:off x="2906713" y="2874963"/>
            <a:ext cx="3249613" cy="381000"/>
          </a:xfrm>
          <a:prstGeom prst="rect">
            <a:avLst/>
          </a:prstGeom>
          <a:solidFill>
            <a:srgbClr val="E62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trike="noStrike" noProof="1"/>
          </a:p>
        </p:txBody>
      </p:sp>
      <p:sp>
        <p:nvSpPr>
          <p:cNvPr id="1030" name="TextBox 2"/>
          <p:cNvSpPr txBox="1"/>
          <p:nvPr userDrawn="1"/>
        </p:nvSpPr>
        <p:spPr>
          <a:xfrm>
            <a:off x="3332163" y="2911475"/>
            <a:ext cx="2398712" cy="3079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algn="ctr"/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www.foryouge.com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031" name="Picture 2" descr="C:\Users\Administrator\Desktop\ADAYO+通用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76600" y="2032000"/>
            <a:ext cx="2376488" cy="2270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/>
          <p:nvPr userDrawn="1"/>
        </p:nvSpPr>
        <p:spPr>
          <a:xfrm flipH="1">
            <a:off x="8101013" y="4587875"/>
            <a:ext cx="719137" cy="327025"/>
          </a:xfrm>
          <a:prstGeom prst="rtTriangle">
            <a:avLst/>
          </a:prstGeom>
          <a:solidFill>
            <a:srgbClr val="E62135"/>
          </a:solidFill>
          <a:ln w="9525">
            <a:noFill/>
          </a:ln>
        </p:spPr>
        <p:txBody>
          <a:bodyPr anchor="ctr"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8" y="700088"/>
            <a:ext cx="8424863" cy="0"/>
          </a:xfrm>
          <a:prstGeom prst="line">
            <a:avLst/>
          </a:prstGeom>
          <a:ln w="4445">
            <a:solidFill>
              <a:srgbClr val="E62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 hidden="1"/>
          <p:cNvSpPr/>
          <p:nvPr userDrawn="1">
            <p:custDataLst>
              <p:tags r:id="rId4"/>
            </p:custDataLst>
          </p:nvPr>
        </p:nvSpPr>
        <p:spPr>
          <a:xfrm>
            <a:off x="-1270000" y="-9525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defRPr/>
            </a:pPr>
            <a:endParaRPr lang="de-DE" sz="1600" strike="noStrike" noProof="1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053" name="Picture 2" descr="C:\Users\Administrator\Desktop\ADAYO+通用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95288" y="431800"/>
            <a:ext cx="1873250" cy="179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3588" y="4732338"/>
            <a:ext cx="360363" cy="112713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 fontAlgn="auto">
              <a:defRPr sz="700" b="1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470673CB-428E-49A9-AE27-9A4D86A3DB1D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ransition>
    <p:fade/>
  </p:transition>
  <p:hf sldNum="0" hdr="0" ftr="0" dt="0"/>
  <p:txStyles>
    <p:titleStyle>
      <a:lvl1pPr algn="l" rtl="0" fontAlgn="base">
        <a:lnSpc>
          <a:spcPct val="95000"/>
        </a:lnSpc>
        <a:spcBef>
          <a:spcPct val="0"/>
        </a:spcBef>
        <a:spcAft>
          <a:spcPct val="0"/>
        </a:spcAft>
        <a:defRPr sz="2400" b="1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  <a:lvl2pPr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7800" indent="-177800" algn="l" rtl="0" fontAlgn="base">
        <a:spcBef>
          <a:spcPct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41655" indent="-184150" algn="l" rtl="0" fontAlgn="base">
        <a:spcBef>
          <a:spcPct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897255" indent="-177800" algn="l" rtl="0" fontAlgn="base">
        <a:spcBef>
          <a:spcPct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254125" indent="-179705" algn="l" rtl="0" fontAlgn="base">
        <a:spcBef>
          <a:spcPct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616075" indent="-177800" algn="l" rtl="0" fontAlgn="base">
        <a:spcBef>
          <a:spcPct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4"/>
          <p:cNvSpPr txBox="1"/>
          <p:nvPr/>
        </p:nvSpPr>
        <p:spPr>
          <a:xfrm>
            <a:off x="2485390" y="2387600"/>
            <a:ext cx="41732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75965" y="3435985"/>
            <a:ext cx="2753360" cy="1524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编制：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审核：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批准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194" name="文本框 5"/>
          <p:cNvSpPr txBox="1"/>
          <p:nvPr/>
        </p:nvSpPr>
        <p:spPr>
          <a:xfrm>
            <a:off x="7734300" y="411163"/>
            <a:ext cx="1158875" cy="2762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目录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244255" y="1099052"/>
            <a:ext cx="2345759" cy="3692519"/>
            <a:chOff x="3255645" y="805821"/>
            <a:chExt cx="2345759" cy="3692519"/>
          </a:xfrm>
        </p:grpSpPr>
        <p:grpSp>
          <p:nvGrpSpPr>
            <p:cNvPr id="10" name="组合 9"/>
            <p:cNvGrpSpPr/>
            <p:nvPr/>
          </p:nvGrpSpPr>
          <p:grpSpPr>
            <a:xfrm>
              <a:off x="3255645" y="1218565"/>
              <a:ext cx="2345759" cy="3279775"/>
              <a:chOff x="3255645" y="1218565"/>
              <a:chExt cx="2345759" cy="3279775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3258995" y="1218565"/>
                <a:ext cx="2333699" cy="423456"/>
                <a:chOff x="5177" y="1482"/>
                <a:chExt cx="3483" cy="632"/>
              </a:xfrm>
              <a:solidFill>
                <a:srgbClr val="EB4D5D"/>
              </a:solidFill>
            </p:grpSpPr>
            <p:sp>
              <p:nvSpPr>
                <p:cNvPr id="3" name="圆角矩形 2"/>
                <p:cNvSpPr/>
                <p:nvPr/>
              </p:nvSpPr>
              <p:spPr>
                <a:xfrm>
                  <a:off x="5544" y="1575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7500"/>
                </a:bodyPr>
                <a:lstStyle/>
                <a:p>
                  <a:pPr fontAlgn="base"/>
                  <a:r>
                    <a:rPr lang="zh-CN" altLang="en-US" sz="900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团队成立</a:t>
                  </a:r>
                  <a:endParaRPr lang="zh-CN" altLang="en-US" sz="9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5177" y="1482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" name="椭圆 1"/>
                <p:cNvSpPr/>
                <p:nvPr/>
              </p:nvSpPr>
              <p:spPr>
                <a:xfrm>
                  <a:off x="5231" y="1536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D1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3263015" y="1626611"/>
                <a:ext cx="2334369" cy="423456"/>
                <a:chOff x="5183" y="2065"/>
                <a:chExt cx="3484" cy="632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33" name="圆角矩形 32"/>
                <p:cNvSpPr/>
                <p:nvPr/>
              </p:nvSpPr>
              <p:spPr>
                <a:xfrm>
                  <a:off x="5551" y="2158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5000" lnSpcReduction="10000"/>
                </a:bodyPr>
                <a:lstStyle/>
                <a:p>
                  <a:pPr fontAlgn="base"/>
                  <a:r>
                    <a:rPr lang="zh-CN" altLang="en-US" sz="1000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问题</a:t>
                  </a:r>
                  <a:r>
                    <a:rPr lang="zh-CN" altLang="en-US" sz="1000" strike="noStrike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描述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5183" y="2065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5237" y="2119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D2</a:t>
                  </a:r>
                  <a:endParaRPr lang="en-US" altLang="zh-CN" sz="2100" strike="noStrike" noProof="1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260335" y="2034656"/>
                <a:ext cx="2333699" cy="423456"/>
                <a:chOff x="5177" y="2648"/>
                <a:chExt cx="3483" cy="632"/>
              </a:xfrm>
              <a:solidFill>
                <a:srgbClr val="EB4D5D"/>
              </a:solidFill>
            </p:grpSpPr>
            <p:sp>
              <p:nvSpPr>
                <p:cNvPr id="38" name="圆角矩形 37"/>
                <p:cNvSpPr/>
                <p:nvPr/>
              </p:nvSpPr>
              <p:spPr>
                <a:xfrm>
                  <a:off x="5544" y="2741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5000" lnSpcReduction="10000"/>
                </a:bodyPr>
                <a:lstStyle/>
                <a:p>
                  <a:pPr fontAlgn="base"/>
                  <a:r>
                    <a:rPr lang="zh-CN" altLang="en-US" sz="1000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临时措施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5177" y="2648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5231" y="2702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D3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4" name="组合 3"/>
              <p:cNvGrpSpPr/>
              <p:nvPr/>
            </p:nvGrpSpPr>
            <p:grpSpPr>
              <a:xfrm>
                <a:off x="3265025" y="2442702"/>
                <a:ext cx="2334369" cy="423456"/>
                <a:chOff x="5183" y="3231"/>
                <a:chExt cx="3484" cy="632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3" name="圆角矩形 42"/>
                <p:cNvSpPr/>
                <p:nvPr/>
              </p:nvSpPr>
              <p:spPr>
                <a:xfrm>
                  <a:off x="5551" y="3324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5000" lnSpcReduction="10000"/>
                </a:bodyPr>
                <a:lstStyle/>
                <a:p>
                  <a:pPr fontAlgn="base"/>
                  <a:r>
                    <a:rPr lang="zh-CN" altLang="en-US" sz="1000" strike="noStrike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原因分析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5183" y="3231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5237" y="3285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D4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3261675" y="2850747"/>
                <a:ext cx="2333699" cy="423456"/>
                <a:chOff x="5177" y="3814"/>
                <a:chExt cx="3483" cy="632"/>
              </a:xfrm>
              <a:solidFill>
                <a:srgbClr val="EB4D5D"/>
              </a:solidFill>
            </p:grpSpPr>
            <p:sp>
              <p:nvSpPr>
                <p:cNvPr id="48" name="圆角矩形 47"/>
                <p:cNvSpPr/>
                <p:nvPr/>
              </p:nvSpPr>
              <p:spPr>
                <a:xfrm>
                  <a:off x="5544" y="3907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/>
                <a:lstStyle/>
                <a:p>
                  <a:pPr fontAlgn="base"/>
                  <a:r>
                    <a:rPr lang="zh-CN" altLang="en-US" sz="1000" strike="noStrike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长期对策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5177" y="3814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5231" y="3868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D5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3267035" y="3258793"/>
                <a:ext cx="2334369" cy="423456"/>
                <a:chOff x="5183" y="4397"/>
                <a:chExt cx="3484" cy="632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>
                  <a:off x="5551" y="4491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5000" lnSpcReduction="10000"/>
                </a:bodyPr>
                <a:lstStyle/>
                <a:p>
                  <a:pPr fontAlgn="base"/>
                  <a:r>
                    <a:rPr lang="zh-CN" altLang="en-US" sz="1000" strike="noStrike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效果验证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>
                  <a:off x="5183" y="4397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5237" y="4451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D6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3257655" y="3666838"/>
                <a:ext cx="2333699" cy="423456"/>
                <a:chOff x="5176" y="5031"/>
                <a:chExt cx="3483" cy="632"/>
              </a:xfrm>
              <a:solidFill>
                <a:srgbClr val="EB4D5D"/>
              </a:solidFill>
            </p:grpSpPr>
            <p:sp>
              <p:nvSpPr>
                <p:cNvPr id="5" name="圆角矩形 4"/>
                <p:cNvSpPr/>
                <p:nvPr/>
              </p:nvSpPr>
              <p:spPr>
                <a:xfrm>
                  <a:off x="5543" y="5124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5000" lnSpcReduction="10000"/>
                </a:bodyPr>
                <a:lstStyle/>
                <a:p>
                  <a:pPr fontAlgn="base"/>
                  <a:r>
                    <a:rPr lang="zh-CN" altLang="en-US" sz="1000" strike="noStrike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预防措施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6" name="椭圆 5"/>
                <p:cNvSpPr/>
                <p:nvPr/>
              </p:nvSpPr>
              <p:spPr>
                <a:xfrm>
                  <a:off x="5176" y="5031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5230" y="5085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D7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3255645" y="4074884"/>
                <a:ext cx="2334369" cy="423456"/>
                <a:chOff x="5183" y="3231"/>
                <a:chExt cx="3484" cy="632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17" name="圆角矩形 16"/>
                <p:cNvSpPr/>
                <p:nvPr/>
              </p:nvSpPr>
              <p:spPr>
                <a:xfrm>
                  <a:off x="5551" y="3324"/>
                  <a:ext cx="3117" cy="445"/>
                </a:xfrm>
                <a:prstGeom prst="roundRect">
                  <a:avLst>
                    <a:gd name="adj" fmla="val 50000"/>
                  </a:avLst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83B40D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  <a:normAutofit fontScale="95000" lnSpcReduction="10000"/>
                </a:bodyPr>
                <a:lstStyle/>
                <a:p>
                  <a:pPr fontAlgn="base"/>
                  <a:r>
                    <a:rPr lang="zh-CN" altLang="en-US" sz="1000" strike="noStrike" noProof="1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结案总结</a:t>
                  </a:r>
                  <a:endParaRPr lang="zh-CN" altLang="en-US" sz="10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18" name="椭圆 17"/>
                <p:cNvSpPr/>
                <p:nvPr/>
              </p:nvSpPr>
              <p:spPr>
                <a:xfrm>
                  <a:off x="5183" y="3231"/>
                  <a:ext cx="632" cy="632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5400000" algn="t" rotWithShape="0">
                    <a:srgbClr val="FFFFFF">
                      <a:lumMod val="75000"/>
                      <a:alpha val="40000"/>
                    </a:srgb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rmAutofit/>
                </a:bodyPr>
                <a:lstStyle/>
                <a:p>
                  <a:pPr algn="ctr" fontAlgn="base"/>
                  <a:endParaRPr lang="zh-CN" altLang="en-US" sz="135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5237" y="3285"/>
                  <a:ext cx="523" cy="523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rgbClr val="FFFFFF"/>
                  </a:solidFill>
                  <a:prstDash val="dash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normAutofit fontScale="67500" lnSpcReduction="20000"/>
                </a:bodyPr>
                <a:lstStyle/>
                <a:p>
                  <a:pPr algn="ctr" fontAlgn="base"/>
                  <a:r>
                    <a:rPr lang="en-US" altLang="zh-CN" sz="2100" strike="noStrike" noProof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</a:rPr>
                    <a:t>D8</a:t>
                  </a:r>
                  <a:endParaRPr lang="en-US" altLang="zh-CN" sz="2100" strike="noStrike" noProof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endParaRPr>
                </a:p>
              </p:txBody>
            </p:sp>
          </p:grpSp>
        </p:grpSp>
        <p:grpSp>
          <p:nvGrpSpPr>
            <p:cNvPr id="37" name="组合 36"/>
            <p:cNvGrpSpPr/>
            <p:nvPr/>
          </p:nvGrpSpPr>
          <p:grpSpPr>
            <a:xfrm>
              <a:off x="3255645" y="805821"/>
              <a:ext cx="2333699" cy="423456"/>
              <a:chOff x="5177" y="1482"/>
              <a:chExt cx="3483" cy="632"/>
            </a:xfrm>
            <a:solidFill>
              <a:srgbClr val="EB4D5D"/>
            </a:solidFill>
          </p:grpSpPr>
          <p:sp>
            <p:nvSpPr>
              <p:cNvPr id="39" name="圆角矩形 38"/>
              <p:cNvSpPr/>
              <p:nvPr/>
            </p:nvSpPr>
            <p:spPr>
              <a:xfrm>
                <a:off x="5544" y="1575"/>
                <a:ext cx="3117" cy="445"/>
              </a:xfrm>
              <a:prstGeom prst="roundRect">
                <a:avLst>
                  <a:gd name="adj" fmla="val 5000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rgbClr val="83B40D">
                    <a:lumMod val="75000"/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297000" tIns="34290" rIns="68580" bIns="34290" numCol="1" spcCol="0" rtlCol="0" fromWordArt="0" anchor="ctr" anchorCtr="0" forceAA="0" compatLnSpc="1">
                <a:normAutofit fontScale="97500"/>
              </a:bodyPr>
              <a:lstStyle/>
              <a:p>
                <a:pPr fontAlgn="base"/>
                <a:r>
                  <a:rPr lang="zh-CN" altLang="en-US" sz="900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相关信息</a:t>
                </a:r>
                <a:endParaRPr lang="zh-CN" altLang="en-US" sz="900" strike="noStrike" noProof="1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5177" y="1482"/>
                <a:ext cx="632" cy="63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srgbClr val="FFFFFF">
                    <a:lumMod val="75000"/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rmAutofit/>
              </a:bodyPr>
              <a:lstStyle/>
              <a:p>
                <a:pPr algn="ctr" fontAlgn="base"/>
                <a:endParaRPr lang="zh-CN" altLang="en-US" sz="1350" strike="noStrike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231" y="1536"/>
                <a:ext cx="523" cy="52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FFFFFF"/>
                </a:solidFill>
                <a:prstDash val="dash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rmAutofit fontScale="67500" lnSpcReduction="20000"/>
              </a:bodyPr>
              <a:lstStyle/>
              <a:p>
                <a:pPr algn="ctr" fontAlgn="base"/>
                <a:r>
                  <a:rPr lang="en-US" altLang="zh-CN" sz="2100" strike="noStrike" noProof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D0</a:t>
                </a:r>
                <a:endParaRPr lang="en-US" altLang="zh-CN" sz="2100" strike="noStrike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605" y="1111885"/>
            <a:ext cx="8245475" cy="23475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故障日期 ：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机型</a:t>
            </a:r>
            <a:r>
              <a:rPr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lang="en-US" altLang="zh-CN" sz="12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总成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追溯条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sz="12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故障发生工位</a:t>
            </a:r>
            <a:r>
              <a:rPr 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lang="zh-CN" altLang="en-US" sz="12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sz="12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具体故障描述</a:t>
            </a:r>
            <a:r>
              <a:rPr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360" y="808990"/>
            <a:ext cx="2835275" cy="250190"/>
            <a:chOff x="736" y="1274"/>
            <a:chExt cx="4465" cy="394"/>
          </a:xfrm>
        </p:grpSpPr>
        <p:sp>
          <p:nvSpPr>
            <p:cNvPr id="13" name="TextBox 2"/>
            <p:cNvSpPr/>
            <p:nvPr/>
          </p:nvSpPr>
          <p:spPr>
            <a:xfrm>
              <a:off x="963" y="1274"/>
              <a:ext cx="4239" cy="3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D0  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问题了解</a:t>
              </a:r>
              <a:endPara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</a:rPr>
            </a:fld>
            <a:endParaRPr lang="en-US" altLang="zh-CN" sz="10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8250" y="1336480"/>
          <a:ext cx="8382222" cy="260342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4222"/>
                <a:gridCol w="1047015"/>
                <a:gridCol w="1715213"/>
                <a:gridCol w="1290914"/>
                <a:gridCol w="2117631"/>
                <a:gridCol w="1527227"/>
              </a:tblGrid>
              <a:tr h="705376"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sz="120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(Serial)</a:t>
                      </a:r>
                      <a:endParaRPr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团队成员</a:t>
                      </a:r>
                      <a:endParaRPr sz="120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(team member)</a:t>
                      </a:r>
                      <a:endParaRPr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sz="120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(Character)</a:t>
                      </a:r>
                      <a:endParaRPr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sz="120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Duties</a:t>
                      </a:r>
                      <a:r>
                        <a:rPr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联系电话&amp;邮箱</a:t>
                      </a:r>
                      <a:endParaRPr sz="120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TEL</a:t>
                      </a:r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主要负责模块</a:t>
                      </a:r>
                      <a:endParaRPr sz="120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Mainly responsible for content</a:t>
                      </a:r>
                      <a:r>
                        <a:rPr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74263"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zh-CN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700" marR="12700" marT="12700" anchor="ctr"/>
                </a:tc>
              </a:tr>
              <a:tr h="4747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2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700" marR="12700" marT="12700" anchor="ctr"/>
                </a:tc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13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D1  </a:t>
              </a:r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团队成立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</a:t>
              </a:r>
              <a:r>
                <a:rPr lang="en-US" altLang="zh-CN" sz="1400" b="1" smtClean="0">
                  <a:latin typeface="+mn-lt"/>
                  <a:ea typeface="微软雅黑" panose="020B0503020204020204" pitchFamily="34" charset="-122"/>
                  <a:sym typeface="+mn-ea"/>
                </a:rPr>
                <a:t>Set up a team</a:t>
              </a:r>
              <a:r>
                <a:rPr lang="en-US" altLang="zh-CN" sz="1400" b="1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)</a:t>
              </a:r>
              <a:endPara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84201" y="1260250"/>
          <a:ext cx="8035450" cy="3568165"/>
        </p:xfrm>
        <a:graphic>
          <a:graphicData uri="http://schemas.openxmlformats.org/drawingml/2006/table">
            <a:tbl>
              <a:tblPr/>
              <a:tblGrid>
                <a:gridCol w="1683544"/>
                <a:gridCol w="1319531"/>
                <a:gridCol w="985520"/>
                <a:gridCol w="1346835"/>
                <a:gridCol w="1019175"/>
                <a:gridCol w="1680845"/>
              </a:tblGrid>
              <a:tr h="346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en-US" altLang="zh-CN" sz="1000" kern="1200" noProof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client</a:t>
                      </a:r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(time)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defRPr/>
                      </a:pP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供应商</a:t>
                      </a: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名称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(supplier)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惠州华阳通用电子有限公司</a:t>
                      </a:r>
                      <a:endParaRPr lang="zh-CN" altLang="en-US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机型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(type)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车型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(model)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材料</a:t>
                      </a: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名称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(Material name)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数量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(Quantity)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不良类型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(failure type)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defRPr/>
                      </a:pPr>
                      <a:endPara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批次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(LOT No.)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6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发现地点</a:t>
                      </a:r>
                      <a:endParaRPr lang="zh-CN" altLang="en-US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defRPr/>
                      </a:pP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生产日期</a:t>
                      </a:r>
                      <a:endParaRPr lang="zh-CN" altLang="en-US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底盘号</a:t>
                      </a:r>
                      <a:endParaRPr lang="zh-CN" altLang="en-US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投诉来源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(Complaint Source)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lang="zh-CN" altLang="en-US" sz="1200" dirty="0" smtClean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故障现象</a:t>
                      </a: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(Symptom description)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89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确认</a:t>
                      </a: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故障现象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(Confirm the malfunction)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0808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故障</a:t>
                      </a: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图片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(Failure picture)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4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D2  </a:t>
              </a:r>
              <a:r>
                <a:rPr lang="zh-CN" altLang="en-US" sz="1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故障描述</a:t>
              </a:r>
              <a:endPara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Group 194"/>
          <p:cNvGraphicFramePr/>
          <p:nvPr>
            <p:custDataLst>
              <p:tags r:id="rId1"/>
            </p:custDataLst>
          </p:nvPr>
        </p:nvGraphicFramePr>
        <p:xfrm>
          <a:off x="582930" y="1339981"/>
          <a:ext cx="7967980" cy="25736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5295"/>
                <a:gridCol w="1147445"/>
                <a:gridCol w="3491230"/>
                <a:gridCol w="1057275"/>
                <a:gridCol w="990600"/>
                <a:gridCol w="826135"/>
              </a:tblGrid>
              <a:tr h="42862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</a:t>
                      </a:r>
                      <a:endParaRPr kumimoji="0" lang="zh-CN" altLang="en-US" sz="1100" b="1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kumimoji="0" lang="zh-CN" altLang="en-US" sz="1100" b="1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</a:t>
                      </a:r>
                      <a:endParaRPr kumimoji="0" lang="zh-CN" altLang="en-US" sz="1100" b="1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部门/负责人</a:t>
                      </a:r>
                      <a:endParaRPr kumimoji="0" lang="zh-CN" altLang="en-US" sz="1100" b="1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  <a:endParaRPr kumimoji="0" lang="zh-CN" altLang="en-US" sz="1100" b="1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kumimoji="0" lang="zh-CN" altLang="en-US" sz="1100" b="1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90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客户方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  <a:tr h="2603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在途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  <a:tr h="26098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中转仓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  <a:tr h="260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  <a:tr h="347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在制品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  <a:tr h="2603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其它</a:t>
                      </a:r>
                      <a:endParaRPr kumimoji="0" lang="en-US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zh-CN" sz="100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T="45725" marB="45725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5" marB="45725" anchor="ctr" horzOverflow="overflow"/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9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D3  </a:t>
              </a:r>
              <a:r>
                <a:rPr lang="zh-CN" altLang="en-US" sz="1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临时措施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4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D4  </a:t>
              </a:r>
              <a:r>
                <a:rPr lang="zh-CN" altLang="en-US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原因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分析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83260" y="1385570"/>
          <a:ext cx="7987665" cy="3379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095"/>
                <a:gridCol w="3912870"/>
                <a:gridCol w="3441700"/>
              </a:tblGrid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层次</a:t>
                      </a:r>
                      <a:endParaRPr lang="zh-CN" altLang="en-US" sz="11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1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原因</a:t>
                      </a:r>
                      <a:endParaRPr lang="zh-CN" altLang="en-US" sz="11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Why1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Why2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Why3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Why4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Why5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43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4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D4  </a:t>
              </a:r>
              <a:r>
                <a:rPr lang="zh-CN" altLang="en-US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原因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分析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11505" y="1059815"/>
            <a:ext cx="304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5WHY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发生原因分析：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83260" y="1385570"/>
          <a:ext cx="7987665" cy="3379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095"/>
                <a:gridCol w="3912870"/>
                <a:gridCol w="3441700"/>
              </a:tblGrid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层次</a:t>
                      </a:r>
                      <a:endParaRPr lang="zh-CN" altLang="en-US" sz="11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1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原因</a:t>
                      </a:r>
                      <a:endParaRPr lang="zh-CN" altLang="en-US" sz="11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Why1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Why2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Why3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43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4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D4  </a:t>
              </a:r>
              <a:r>
                <a:rPr lang="zh-CN" altLang="en-US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原因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分析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11505" y="1059815"/>
            <a:ext cx="304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5WHY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流出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原因分析：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06413" y="1175192"/>
          <a:ext cx="8098035" cy="61818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44855"/>
                <a:gridCol w="3883660"/>
                <a:gridCol w="1376680"/>
                <a:gridCol w="1423035"/>
                <a:gridCol w="669805"/>
              </a:tblGrid>
              <a:tr h="258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3" marR="91433" marT="45716" marB="4571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微软雅黑" panose="020B0503020204020204" pitchFamily="34" charset="-122"/>
                        </a:rPr>
                        <a:t>长期对策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91433" marR="91433" marT="45716" marB="4571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部门</a:t>
                      </a:r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负责人</a:t>
                      </a:r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1433" marR="91433" marT="45716" marB="4571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3" marR="91433" marT="45716" marB="4571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3" marR="91433" marT="45716" marB="4571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3870">
                <a:tc>
                  <a:txBody>
                    <a:bodyPr/>
                    <a:lstStyle/>
                    <a:p>
                      <a:pPr algn="ctr"/>
                      <a:endParaRPr lang="en-US" altLang="zh-CN" sz="1200" b="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3" marR="91433" marT="45716" marB="4571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kern="1200" cap="none" spc="0" baseline="0" dirty="0" smtClean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  <a:sym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kern="1200" cap="none" spc="0" baseline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kern="1200" cap="none" spc="0" baseline="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5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D5  </a:t>
              </a:r>
              <a:r>
                <a:rPr lang="zh-CN" altLang="en-US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长期对策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67544" y="1232493"/>
          <a:ext cx="8281169" cy="1051225"/>
        </p:xfrm>
        <a:graphic>
          <a:graphicData uri="http://schemas.openxmlformats.org/drawingml/2006/table">
            <a:tbl>
              <a:tblPr/>
              <a:tblGrid>
                <a:gridCol w="732611"/>
                <a:gridCol w="2891259"/>
                <a:gridCol w="2497392"/>
                <a:gridCol w="1116026"/>
                <a:gridCol w="1043881"/>
              </a:tblGrid>
              <a:tr h="38840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验证方式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 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6281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kern="1200" cap="none" spc="0" baseline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5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D6  </a:t>
              </a:r>
              <a:r>
                <a:rPr lang="zh-CN" altLang="en-US" sz="1400" b="1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效果验证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表格"/>
          <p:cNvGraphicFramePr>
            <a:graphicFrameLocks noGrp="1"/>
          </p:cNvGraphicFramePr>
          <p:nvPr/>
        </p:nvGraphicFramePr>
        <p:xfrm>
          <a:off x="439738" y="1275606"/>
          <a:ext cx="8023819" cy="3617211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655521"/>
                <a:gridCol w="695960"/>
                <a:gridCol w="2899549"/>
                <a:gridCol w="983157"/>
                <a:gridCol w="957732"/>
                <a:gridCol w="831900"/>
              </a:tblGrid>
              <a:tr h="339589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行动</a:t>
                      </a:r>
                      <a:endParaRPr lang="zh-CN" altLang="en-US" sz="1000" b="1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是</a:t>
                      </a:r>
                      <a:r>
                        <a:rPr lang="en-US" altLang="zh-CN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/</a:t>
                      </a: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否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评论</a:t>
                      </a:r>
                      <a:r>
                        <a:rPr lang="en-US" altLang="zh-CN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/</a:t>
                      </a: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意见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部门</a:t>
                      </a:r>
                      <a:r>
                        <a:rPr lang="en-US" altLang="zh-CN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/</a:t>
                      </a: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负责人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日期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状态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71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程序</a:t>
                      </a:r>
                      <a:r>
                        <a:rPr lang="en-US" altLang="zh-CN" sz="10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Procedure</a:t>
                      </a:r>
                      <a:endParaRPr lang="zh-CN" altLang="en-US" sz="1000" b="1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工作指示</a:t>
                      </a: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Work instruction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000" b="0" i="0" u="none" strike="noStrike" kern="1200" cap="none" spc="0" baseline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u="none" strike="noStrike" kern="1200" cap="none" spc="0" baseline="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876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操作指示</a:t>
                      </a: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SOP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71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流程图</a:t>
                      </a: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Flow chart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71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失效模式分析</a:t>
                      </a:r>
                      <a:r>
                        <a:rPr lang="en-US" altLang="zh-CN" sz="10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D/P-FMEA</a:t>
                      </a:r>
                      <a:r>
                        <a:rPr lang="en-US" altLang="zh-CN" sz="1000" b="1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 </a:t>
                      </a:r>
                      <a:endParaRPr lang="zh-CN" altLang="en-US" sz="1000" b="1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kern="120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2311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</a:rPr>
                        <a:t>控制计划</a:t>
                      </a:r>
                      <a:r>
                        <a:rPr lang="en-US" altLang="zh-CN" sz="10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Control Plan</a:t>
                      </a:r>
                      <a:endParaRPr lang="zh-CN" altLang="en-US" sz="1000" b="1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kern="120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5219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设计规范</a:t>
                      </a: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Design disciplines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  <a:sym typeface="微软雅黑" panose="020B0503020204020204" pitchFamily="34" charset="-122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19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经验教训</a:t>
                      </a: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Lessons Learned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  <a:sym typeface="微软雅黑" panose="020B0503020204020204" pitchFamily="34" charset="-122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u="none" strike="noStrike" kern="1200" cap="none" spc="0" baseline="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76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其它</a:t>
                      </a: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Droid Sans" charset="0"/>
                          <a:sym typeface="微软雅黑" panose="020B0503020204020204" pitchFamily="34" charset="-122"/>
                        </a:rPr>
                        <a:t>Other</a:t>
                      </a:r>
                      <a:endParaRPr lang="zh-CN" altLang="en-US" sz="1000" b="1" i="0" u="none" strike="noStrike" kern="1200" cap="none" spc="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  <a:sym typeface="微软雅黑" panose="020B0503020204020204" pitchFamily="34" charset="-122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Droid Sans" charset="0"/>
                      </a:endParaRPr>
                    </a:p>
                  </a:txBody>
                  <a:tcPr marL="91427" marR="91427" marT="45707" marB="45707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5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D7  </a:t>
              </a:r>
              <a:r>
                <a:rPr lang="zh-CN" altLang="en-US" sz="1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预防措施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8388350" y="4691063"/>
            <a:ext cx="360363" cy="112712"/>
          </a:xfrm>
          <a:noFill/>
          <a:ln>
            <a:noFill/>
          </a:ln>
        </p:spPr>
        <p:txBody>
          <a:bodyPr wrap="none" lIns="0" tIns="0" rIns="0" bIns="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1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334441" y="1275606"/>
            <a:ext cx="82470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{{Content}}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7360" y="808990"/>
            <a:ext cx="2835910" cy="245110"/>
            <a:chOff x="736" y="1274"/>
            <a:chExt cx="4466" cy="386"/>
          </a:xfrm>
        </p:grpSpPr>
        <p:sp>
          <p:nvSpPr>
            <p:cNvPr id="5" name="TextBox 2"/>
            <p:cNvSpPr/>
            <p:nvPr/>
          </p:nvSpPr>
          <p:spPr>
            <a:xfrm>
              <a:off x="963" y="1274"/>
              <a:ext cx="423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lnSpc>
                  <a:spcPts val="1200"/>
                </a:lnSpc>
                <a:spcBef>
                  <a:spcPts val="600"/>
                </a:spcBef>
              </a:pPr>
              <a:r>
                <a:rPr lang="en-US" altLang="zh-CN" sz="1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D8  </a:t>
              </a:r>
              <a:r>
                <a:rPr lang="zh-CN" altLang="zh-CN" sz="1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结案总结</a:t>
              </a:r>
              <a:endPara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36" y="1313"/>
              <a:ext cx="227" cy="229"/>
            </a:xfrm>
            <a:prstGeom prst="rect">
              <a:avLst/>
            </a:prstGeom>
            <a:solidFill>
              <a:srgbClr val="E62135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fontAlgn="auto">
                <a:defRPr/>
              </a:pPr>
              <a:endParaRPr lang="zh-CN" altLang="en-US" sz="1600" noProof="1">
                <a:solidFill>
                  <a:srgbClr val="EBEBEB">
                    <a:lumMod val="10000"/>
                  </a:srgb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3175" y="2378075"/>
            <a:ext cx="9151938" cy="504825"/>
          </a:xfrm>
          <a:prstGeom prst="rect">
            <a:avLst/>
          </a:prstGeom>
          <a:solidFill>
            <a:srgbClr val="E62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buFont typeface="Arial" panose="020B0604020202020204" pitchFamily="34" charset="0"/>
              <a:buNone/>
              <a:defRPr/>
            </a:pPr>
            <a:endParaRPr lang="zh-CN" altLang="en-US" sz="1200" strike="noStrike" noProof="1"/>
          </a:p>
        </p:txBody>
      </p:sp>
      <p:pic>
        <p:nvPicPr>
          <p:cNvPr id="32770" name="Picture 13" descr="C:\Users\Administrator\Desktop\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3" y="288925"/>
            <a:ext cx="1735137" cy="166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1" name="文本框 2"/>
          <p:cNvSpPr txBox="1"/>
          <p:nvPr/>
        </p:nvSpPr>
        <p:spPr>
          <a:xfrm>
            <a:off x="2665413" y="2522538"/>
            <a:ext cx="3813175" cy="3587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2800"/>
              </a:lnSpc>
              <a:spcBef>
                <a:spcPct val="20000"/>
              </a:spcBef>
            </a:pPr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谢 谢</a:t>
            </a:r>
            <a:endParaRPr lang="zh-CN" altLang="en-US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277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838" y="3487738"/>
            <a:ext cx="820737" cy="811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Rectangle 6"/>
          <p:cNvSpPr/>
          <p:nvPr/>
        </p:nvSpPr>
        <p:spPr>
          <a:xfrm>
            <a:off x="3808413" y="4298950"/>
            <a:ext cx="1527175" cy="139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ctr"/>
            <a:r>
              <a:rPr lang="zh-CN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华阳汽车电子公众号</a:t>
            </a:r>
            <a:endParaRPr lang="zh-CN" altLang="zh-CN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77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138" y="1282700"/>
            <a:ext cx="2624137" cy="706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MST_COLOR_1" val="0,0,0,Dark 1"/>
  <p:tag name="MIO_MST_COLOR_2" val="255,255,255,Light 1"/>
  <p:tag name="MIO_MST_COLOR_3" val="255,255,255,Dark 2"/>
  <p:tag name="MIO_MST_COLOR_4" val="235,235,235,Light 2"/>
  <p:tag name="MIO_MST_COLOR_5" val="255,165,0,Accent 1"/>
  <p:tag name="MIO_MST_COLOR_6" val="191,115,0,Accent 2"/>
  <p:tag name="MIO_MST_COLOR_7" val="226,135,0,Accent 3"/>
  <p:tag name="MIO_MST_COLOR_8" val="255,194,102,Accent 4"/>
  <p:tag name="MIO_MST_COLOR_9" val="95,95,95,Accent 5"/>
  <p:tag name="MIO_MST_COLOR_10" val="38,38,38,Accent 6"/>
  <p:tag name="MIO_MST_COLOR_11" val="255,165,0,"/>
  <p:tag name="MIO_MST_COLOR_12" val="119,119,119,"/>
  <p:tag name="MIO_HDS" val="True"/>
  <p:tag name="MIO_EK" val="7226"/>
  <p:tag name="MIO_UPDATE" val="True"/>
  <p:tag name="MIO_VERSION" val="17.03.2014 13:10:57"/>
  <p:tag name="MIO_DBID" val="ED9FF2F2-6643-46BA-B685-7D49126FFAFF"/>
</p:tagLst>
</file>

<file path=ppt/tags/tag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3.xml><?xml version="1.0" encoding="utf-8"?>
<p:tagLst xmlns:p="http://schemas.openxmlformats.org/presentationml/2006/main">
  <p:tag name="KSO_WM_UNIT_TABLE_BEAUTIFY" val="smartTable{5ddcbd42-a4de-45d8-be08-7442f165ebc1}"/>
  <p:tag name="TABLE_ENDDRAG_ORIGIN_RECT" val="618*301"/>
  <p:tag name="TABLE_ENDDRAG_RECT" val="42*95*618*301"/>
</p:tagLst>
</file>

<file path=ppt/tags/tag4.xml><?xml version="1.0" encoding="utf-8"?>
<p:tagLst xmlns:p="http://schemas.openxmlformats.org/presentationml/2006/main">
  <p:tag name="KSO_WM_UNIT_TABLE_BEAUTIFY" val="smartTable{51297203-e14e-4962-97a8-b09a129983b4}"/>
  <p:tag name="TABLE_ENDDRAG_ORIGIN_RECT" val="627*232"/>
  <p:tag name="TABLE_ENDDRAG_RECT" val="33*131*627*232"/>
</p:tagLst>
</file>

<file path=ppt/tags/tag5.xml><?xml version="1.0" encoding="utf-8"?>
<p:tagLst xmlns:p="http://schemas.openxmlformats.org/presentationml/2006/main">
  <p:tag name="TABLE_ENDDRAG_ORIGIN_RECT" val="628*266"/>
  <p:tag name="TABLE_ENDDRAG_RECT" val="53*109*628*266"/>
</p:tagLst>
</file>

<file path=ppt/tags/tag6.xml><?xml version="1.0" encoding="utf-8"?>
<p:tagLst xmlns:p="http://schemas.openxmlformats.org/presentationml/2006/main">
  <p:tag name="TABLE_ENDDRAG_ORIGIN_RECT" val="628*266"/>
  <p:tag name="TABLE_ENDDRAG_RECT" val="53*109*628*266"/>
</p:tagLst>
</file>

<file path=ppt/tags/tag7.xml><?xml version="1.0" encoding="utf-8"?>
<p:tagLst xmlns:p="http://schemas.openxmlformats.org/presentationml/2006/main">
  <p:tag name="KSO_WM_DOC_GUID" val="{40083ee8-aa06-44b7-a7e8-ab89c988e4c1}"/>
  <p:tag name="COMMONDATA" val="eyJoZGlkIjoiNDczMzRkMDEwOTFhZTk1ZGUyODdlZTI0NjFjODRiZj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inental AG, 4x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WPS 演示</Application>
  <PresentationFormat>全屏显示(16:9)</PresentationFormat>
  <Paragraphs>294</Paragraphs>
  <Slides>14</Slides>
  <Notes>30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黑体</vt:lpstr>
      <vt:lpstr>Droid Sans</vt:lpstr>
      <vt:lpstr>Segoe Print</vt:lpstr>
      <vt:lpstr>Arial Unicode MS</vt:lpstr>
      <vt:lpstr>自定义设计方案</vt:lpstr>
      <vt:lpstr>Continental AG, 4x3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Continental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Christian Brandt</dc:creator>
  <cp:lastModifiedBy>QX</cp:lastModifiedBy>
  <cp:revision>2529</cp:revision>
  <dcterms:created xsi:type="dcterms:W3CDTF">2014-03-17T12:10:00Z</dcterms:created>
  <dcterms:modified xsi:type="dcterms:W3CDTF">2026-08-05T01:11:08Z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10118126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D6.0.7</vt:lpwstr>
  </property>
  <property fmtid="{D5CDD505-2E9C-101B-9397-08002B2CF9AE}" pid="5" name="KSOProductBuildVer">
    <vt:lpwstr>2052-12.8.2.18205</vt:lpwstr>
  </property>
  <property fmtid="{D5CDD505-2E9C-101B-9397-08002B2CF9AE}" pid="6" name="KSORubyTemplateID">
    <vt:lpwstr>2</vt:lpwstr>
  </property>
  <property fmtid="{D5CDD505-2E9C-101B-9397-08002B2CF9AE}" pid="7" name="ICV">
    <vt:lpwstr>CCC246C256314628A6C130D194D4B9F2_13</vt:lpwstr>
  </property>
</Properties>
</file>